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K Grotesk" charset="1" panose="00000500000000000000"/>
      <p:regular r:id="rId13"/>
    </p:embeddedFont>
    <p:embeddedFont>
      <p:font typeface="Noto Serif Display ExtraCondensed Light" charset="1" panose="02020406080505020204"/>
      <p:regular r:id="rId14"/>
    </p:embeddedFont>
    <p:embeddedFont>
      <p:font typeface="HK Grotesk Semi-Bold" charset="1" panose="00000700000000000000"/>
      <p:regular r:id="rId15"/>
    </p:embeddedFont>
    <p:embeddedFont>
      <p:font typeface="HK Grotesk Bold" charset="1" panose="000008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https://www.linkedin.com/in/odey-divin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07036" y="-435345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4050030"/>
            <a:ext cx="6886575" cy="5513070"/>
            <a:chOff x="0" y="0"/>
            <a:chExt cx="9182100" cy="73507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233160"/>
              <a:ext cx="91821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Analysis of Adidas's sales data in the US market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6700"/>
              <a:ext cx="9182100" cy="5097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US Sales Data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Adidas's US Market Presence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1565910"/>
            <a:ext cx="7191375" cy="4911090"/>
            <a:chOff x="0" y="0"/>
            <a:chExt cx="1114132" cy="760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4132" cy="760856"/>
            </a:xfrm>
            <a:custGeom>
              <a:avLst/>
              <a:gdLst/>
              <a:ahLst/>
              <a:cxnLst/>
              <a:rect r="r" b="b" t="t" l="l"/>
              <a:pathLst>
                <a:path h="760856" w="1114132">
                  <a:moveTo>
                    <a:pt x="0" y="0"/>
                  </a:moveTo>
                  <a:lnTo>
                    <a:pt x="1114132" y="0"/>
                  </a:lnTo>
                  <a:lnTo>
                    <a:pt x="1114132" y="760856"/>
                  </a:lnTo>
                  <a:lnTo>
                    <a:pt x="0" y="760856"/>
                  </a:lnTo>
                  <a:close/>
                </a:path>
              </a:pathLst>
            </a:custGeom>
            <a:blipFill>
              <a:blip r:embed="rId2"/>
              <a:stretch>
                <a:fillRect l="-214" t="0" r="-21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934200"/>
            <a:ext cx="4010025" cy="1619250"/>
            <a:chOff x="0" y="0"/>
            <a:chExt cx="5346700" cy="2159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detailed overview of Adidas's US sales presence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Market Share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58037" y="1628511"/>
            <a:ext cx="9391305" cy="4158782"/>
          </a:xfrm>
          <a:custGeom>
            <a:avLst/>
            <a:gdLst/>
            <a:ahLst/>
            <a:cxnLst/>
            <a:rect r="r" b="b" t="t" l="l"/>
            <a:pathLst>
              <a:path h="4158782" w="9391305">
                <a:moveTo>
                  <a:pt x="0" y="0"/>
                </a:moveTo>
                <a:lnTo>
                  <a:pt x="9391305" y="0"/>
                </a:lnTo>
                <a:lnTo>
                  <a:pt x="9391305" y="4158782"/>
                </a:lnTo>
                <a:lnTo>
                  <a:pt x="0" y="4158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88327" y="4923997"/>
            <a:ext cx="9842583" cy="4334303"/>
          </a:xfrm>
          <a:custGeom>
            <a:avLst/>
            <a:gdLst/>
            <a:ahLst/>
            <a:cxnLst/>
            <a:rect r="r" b="b" t="t" l="l"/>
            <a:pathLst>
              <a:path h="4334303" w="9842583">
                <a:moveTo>
                  <a:pt x="0" y="0"/>
                </a:moveTo>
                <a:lnTo>
                  <a:pt x="9842584" y="0"/>
                </a:lnTo>
                <a:lnTo>
                  <a:pt x="9842584" y="4334303"/>
                </a:lnTo>
                <a:lnTo>
                  <a:pt x="0" y="433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6" t="0" r="-186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9949342" y="3366013"/>
            <a:ext cx="165507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533249" y="7259152"/>
            <a:ext cx="165507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604420" y="3185038"/>
            <a:ext cx="21717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Product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37762" y="7091149"/>
            <a:ext cx="181927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Sales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325648" y="-1648237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5593" y="4092846"/>
            <a:ext cx="15696814" cy="496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Tot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Sales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: $899.9M</a:t>
            </a: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nit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Sold: 2.5M</a:t>
            </a: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To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ro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Made: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$332.1M</a:t>
            </a: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otal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ansactio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Ini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ed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9.6K</a:t>
            </a: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Aver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oduc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: $45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  <a:r>
              <a:rPr lang="en-US" sz="465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22</a:t>
            </a:r>
          </a:p>
          <a:p>
            <a:pPr algn="l" marL="0" indent="0" lvl="0">
              <a:lnSpc>
                <a:spcPts val="55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2500897"/>
            <a:ext cx="169545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8125" y="174307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4248150"/>
            <a:ext cx="83248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Adidas’ 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 sal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trongest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even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nne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se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how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owth pot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038850"/>
            <a:ext cx="832485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Weste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 U.S. is the bran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’s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dom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mark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 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 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ould co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tinue re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ceivin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rgete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 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ark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inve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stmen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29550"/>
            <a:ext cx="832485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High-mar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c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tegories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ike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’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Footwear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 Wom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n’s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hould be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itiz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ed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eason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promotion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58125" y="4286250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8125" y="6076950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8125" y="7867650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8125" y="1277679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3264594"/>
            <a:ext cx="83248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Enhance Online 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enc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e: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Inc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rease ma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rket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tal plat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forms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improv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online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ver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055294"/>
            <a:ext cx="832485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Regional Expansion: Leverage success in Weste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rn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Northea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egio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ns to 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form 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tore placement 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and su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trategies.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845994"/>
            <a:ext cx="83248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Produ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F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optimizing inventor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and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otio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ns for 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igh-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ems like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’s St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eet F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oot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wear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58125" y="3302694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8125" y="5093394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8125" y="6884094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858125" y="8478743"/>
            <a:ext cx="113347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8261573"/>
            <a:ext cx="832485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ce Strategy: Review pricing for lower-p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orming categories to maintain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compet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iv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eness and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rgin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0218" y="6133332"/>
            <a:ext cx="2485523" cy="2485523"/>
          </a:xfrm>
          <a:custGeom>
            <a:avLst/>
            <a:gdLst/>
            <a:ahLst/>
            <a:cxnLst/>
            <a:rect r="r" b="b" t="t" l="l"/>
            <a:pathLst>
              <a:path h="2485523" w="2485523">
                <a:moveTo>
                  <a:pt x="0" y="0"/>
                </a:moveTo>
                <a:lnTo>
                  <a:pt x="2485523" y="0"/>
                </a:lnTo>
                <a:lnTo>
                  <a:pt x="2485523" y="2485523"/>
                </a:lnTo>
                <a:lnTo>
                  <a:pt x="0" y="2485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>
            <a:hlinkClick r:id="rId5" tooltip="https://www.linkedin.com/in/odey-divine/"/>
          </p:cNvPr>
          <p:cNvSpPr/>
          <p:nvPr/>
        </p:nvSpPr>
        <p:spPr>
          <a:xfrm flipH="false" flipV="false" rot="0">
            <a:off x="4948935" y="6801401"/>
            <a:ext cx="1656215" cy="1656215"/>
          </a:xfrm>
          <a:custGeom>
            <a:avLst/>
            <a:gdLst/>
            <a:ahLst/>
            <a:cxnLst/>
            <a:rect r="r" b="b" t="t" l="l"/>
            <a:pathLst>
              <a:path h="1656215" w="1656215">
                <a:moveTo>
                  <a:pt x="0" y="0"/>
                </a:moveTo>
                <a:lnTo>
                  <a:pt x="1656215" y="0"/>
                </a:lnTo>
                <a:lnTo>
                  <a:pt x="1656215" y="1656215"/>
                </a:lnTo>
                <a:lnTo>
                  <a:pt x="0" y="165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6750" y="1675812"/>
            <a:ext cx="5448300" cy="2151805"/>
            <a:chOff x="0" y="0"/>
            <a:chExt cx="7264400" cy="286907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6474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80218" y="8666480"/>
            <a:ext cx="2485523" cy="59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Odey Divine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DAG49ElB2e8</dc:identifier>
  <dcterms:modified xsi:type="dcterms:W3CDTF">2011-08-01T06:04:30Z</dcterms:modified>
  <cp:revision>1</cp:revision>
  <dc:title>Analysis of Adidas's sales data in the US market from 2020-2021</dc:title>
</cp:coreProperties>
</file>